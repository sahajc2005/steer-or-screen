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pitch. Emphasize: both options use the IDENTICAL trained model and surrogate. The only variable is how the scarce solver budget is spent. Steering = one refined seed via gradient descent; Screening = many samples, filter, solve the best few.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verdict slowly. The exciting hypothesis (steering) loses; the humble one (cost-to-go as a ranker) wins and is generator-agnostic. This is what motivates my proposed directions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MY agenda. If asked where to start: directions 1 (diversified steering) and 3 (stress-test the ranker) are the most self-contained and testable on the existing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4937760" cy="4937760"/>
          </a:xfrm>
          <a:prstGeom prst="ellipse">
            <a:avLst/>
          </a:prstGeom>
          <a:solidFill>
            <a:srgbClr val="1B3A5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731520"/>
            <a:ext cx="3291840" cy="3291840"/>
          </a:xfrm>
          <a:prstGeom prst="ellipse">
            <a:avLst/>
          </a:prstGeom>
          <a:solidFill>
            <a:srgbClr val="0A6F6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137160"/>
            <a:ext cx="2103120" cy="2103120"/>
          </a:xfrm>
          <a:prstGeom prst="ellipse">
            <a:avLst/>
          </a:prstGeom>
          <a:solidFill>
            <a:srgbClr val="0E9B8E">
              <a:alpha val="2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  ·  AMORTIZED WARM-START OPTIMIZATION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or Screen?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spend a learned cost-to-go when warm-start budget is scarce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77240" y="39776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9553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977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3977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89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9776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E9B8E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977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480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gradient-descend a surrogate  ·  vs  ·  rank many samples, solve the best few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5669280"/>
            <a:ext cx="3840480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buNone/>
            </a:pPr>
            <a:r>
              <a:rPr lang="en-US" sz="14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Prepared for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[Advisor]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3" name="Image 0" descr="figs/ic_rep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hard problem, solved again and again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deployed systems re-solve one parametric optimization every step — only the parameters change.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85416"/>
            <a:ext cx="475488" cy="47548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9" name="Image 1" descr="figs/ic_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28062"/>
            <a:ext cx="190195" cy="1901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122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Model-predictive control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63040" y="2468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re-solves a trajectory problem every timestep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236976"/>
            <a:ext cx="475488" cy="47548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4" name="Image 2" descr="figs/ic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379622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1638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463040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re-optimizes continuously as prices move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4288536"/>
            <a:ext cx="475488" cy="47548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9" name="Image 3" descr="figs/ic_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431182"/>
            <a:ext cx="190195" cy="1901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421538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manipulation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1463040" y="4572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re-plans as the scene in front of it shifts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269480" y="1965960"/>
            <a:ext cx="4343400" cy="3200400"/>
          </a:xfrm>
          <a:prstGeom prst="roundRect">
            <a:avLst>
              <a:gd name="adj" fmla="val 2857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543800" y="2240280"/>
            <a:ext cx="548640" cy="548640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24" name="Image 4" descr="figs/ic_bas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240487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seed matters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7543800" y="29260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objective is nonconvex, the starting point (the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decides not just </a:t>
            </a:r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solver converges, but </a:t>
            </a:r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local minimum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falls into.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543800" y="4343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seed drops into the nearest basin — usually not the deepest one.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3" name="Image 0" descr="figs/ic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literature measures “faster,” not “better basin”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warm-starts are known to cut iterations. Reaching a lower minimum at equal cost is a strictly stronger claim.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0A6F66"/>
          </a:solidFill>
          <a:ln/>
        </p:spPr>
      </p:sp>
      <p:pic>
        <p:nvPicPr>
          <p:cNvPr id="9" name="Image 1" descr="fig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774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established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2697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seeds reduce solver iterations and runtime versus naive initialization — a closer basin, faster convergence.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63640" y="20116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BEFE6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92240" y="2240280"/>
            <a:ext cx="457200" cy="457200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4" name="Image 2" descr="figs/ic_g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774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537960" y="2697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learned seed reach a lower minimum at equal solver cost? That needs a better basin, not merely a nearer one.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38862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914400" y="40690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CBD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“Measuring </a:t>
            </a:r>
            <a:pPr indent="0" marL="0">
              <a:lnSpc>
                <a:spcPct val="112000"/>
              </a:lnSpc>
              <a:buNone/>
            </a:pPr>
            <a:r>
              <a:rPr lang="en-US" sz="2100" b="1" i="1" dirty="0">
                <a:solidFill>
                  <a:srgbClr val="0E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CBD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easy and common. Measuring </a:t>
            </a:r>
            <a:pPr indent="0" marL="0">
              <a:lnSpc>
                <a:spcPct val="112000"/>
              </a:lnSpc>
              <a:buNone/>
            </a:pPr>
            <a:r>
              <a:rPr lang="en-US" sz="2100" b="1" i="1" dirty="0">
                <a:solidFill>
                  <a:srgbClr val="E0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basin, at equal cost</a:t>
            </a:r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CBD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neither — and it is where the interesting uncertainty lives.”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  (RQ5)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trained model. Same solver budget. </a:t>
            </a:r>
            <a:pPr indent="0" marL="0">
              <a:buNone/>
            </a:pPr>
            <a:r>
              <a:rPr lang="en-US" sz="3000" b="1" dirty="0">
                <a:solidFill>
                  <a:srgbClr val="E0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or screen?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conditional generative model over good solutions and a learned cost-to-go g(z,θ), with a fixed budget of expensive solver calls — how should we spend it?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D9553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880360"/>
            <a:ext cx="5349240" cy="320040"/>
          </a:xfrm>
          <a:prstGeom prst="rect">
            <a:avLst/>
          </a:prstGeom>
          <a:solidFill>
            <a:srgbClr val="D9553F"/>
          </a:solidFill>
          <a:ln/>
        </p:spPr>
      </p:sp>
      <p:pic>
        <p:nvPicPr>
          <p:cNvPr id="8" name="Image 0" descr="figs/ic_st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8775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95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08760" y="27066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05840" y="342900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cheap gradient descent on the surrogate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B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g(z,θ)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latent space toward a low-predicted-cost point, decode it, and hand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refined seed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solver.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Bet: the smooth latent lets us search for a better basin without spending solver calls.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217920" y="233172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233172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0E9B8E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0" y="2880360"/>
            <a:ext cx="5349240" cy="320040"/>
          </a:xfrm>
          <a:prstGeom prst="rect">
            <a:avLst/>
          </a:prstGeom>
          <a:solidFill>
            <a:srgbClr val="0E9B8E"/>
          </a:solidFill>
          <a:ln/>
        </p:spPr>
      </p:sp>
      <p:pic>
        <p:nvPicPr>
          <p:cNvPr id="15" name="Image 1" descr="figs/ic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87752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2395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086600" y="27066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583680" y="342900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latent samples, rank them with the surrogate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0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spend the budget solving only the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few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Bet: use the cost signal as a filter over diverse seeds, not as a gradient toward one.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the identical trained components. They differ only in how the scarce budget is spent.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" name="Image 0" descr="figs/ic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controlled, budget-matched comparison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dimension-general family of nonconvex wells where the deepest basin moves with the instance parameter θ.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103120"/>
            <a:ext cx="548640" cy="548640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9" name="Image 1" descr="figs/ic_mount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2677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22960" y="27889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Gaussian wells + a mild bowl. Each well’s depth depends on θ, so the global basin moves as θ changes — a genuine learning problem, not a lookup.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61104" y="18745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17136" y="2103120"/>
            <a:ext cx="548640" cy="548640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14" name="Image 2" descr="figs/ic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2677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75504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regimes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535424" y="27889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low-dim / densely covered (D=2, P=2, K=6).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high-dim / sparsely covered (D=8, P=6, K=12).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973568" y="18745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0" y="2103120"/>
            <a:ext cx="548640" cy="548640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19" name="Image 3" descr="figs/ic_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26771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87968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test shifts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247888" y="27889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 (θ matches training) and a mean-and-variance shift away from training, to test robustness.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4526280"/>
            <a:ext cx="11082528" cy="1417320"/>
          </a:xfrm>
          <a:prstGeom prst="roundRect">
            <a:avLst>
              <a:gd name="adj" fmla="val 6452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24" name="Image 4" descr="figs/ic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" y="4970678"/>
            <a:ext cx="226771" cy="22677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thing rationed: solver calls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1645920" y="51206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“query” is one solver call — the expensive operation. Every method is compared at a matched budget B. Cheap surrogate-gradient steps are free and uncounted. Metric: optimality gap vs. a large-multistart reference (median and 90th-percentile tail).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3" name="Image 0" descr="figs/ic_mount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landscape, up close: a moving global basin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dimension-general family of nonconvex wells — a clean, controllable stand-in for real multi-basin structure.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4754880" cy="4251960"/>
          </a:xfrm>
          <a:prstGeom prst="roundRect">
            <a:avLst>
              <a:gd name="adj" fmla="val 215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 family</a:t>
            </a:r>
            <a:endParaRPr lang="en-US" sz="1600" dirty="0"/>
          </a:p>
        </p:txBody>
      </p:sp>
      <p:pic>
        <p:nvPicPr>
          <p:cNvPr id="9" name="Image 1" descr="figs/eq_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14016"/>
            <a:ext cx="4160520" cy="628854"/>
          </a:xfrm>
          <a:prstGeom prst="rect">
            <a:avLst/>
          </a:prstGeom>
        </p:spPr>
      </p:pic>
      <p:pic>
        <p:nvPicPr>
          <p:cNvPr id="10" name="Image 2" descr="figs/eq_dep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25750"/>
            <a:ext cx="3063240" cy="32863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41248" y="3758184"/>
            <a:ext cx="137160" cy="137160"/>
          </a:xfrm>
          <a:prstGeom prst="ellipse">
            <a:avLst/>
          </a:prstGeom>
          <a:solidFill>
            <a:srgbClr val="0A6F66"/>
          </a:solidFill>
          <a:ln/>
        </p:spPr>
      </p:sp>
      <p:sp>
        <p:nvSpPr>
          <p:cNvPr id="12" name="Text 7"/>
          <p:cNvSpPr/>
          <p:nvPr/>
        </p:nvSpPr>
        <p:spPr>
          <a:xfrm>
            <a:off x="1115568" y="3657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Gaussian dips at fixed centers c_k — the candidate basins.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41248" y="4325112"/>
            <a:ext cx="137160" cy="137160"/>
          </a:xfrm>
          <a:prstGeom prst="ellipse">
            <a:avLst/>
          </a:prstGeom>
          <a:solidFill>
            <a:srgbClr val="D9553F"/>
          </a:solidFill>
          <a:ln/>
        </p:spPr>
      </p:sp>
      <p:sp>
        <p:nvSpPr>
          <p:cNvPr id="14" name="Text 9"/>
          <p:cNvSpPr/>
          <p:nvPr/>
        </p:nvSpPr>
        <p:spPr>
          <a:xfrm>
            <a:off x="1115568" y="42245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 d_k(θ)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softplus of θ, so each well’s depth shifts with the instance.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41248" y="4892040"/>
            <a:ext cx="137160" cy="137160"/>
          </a:xfrm>
          <a:prstGeom prst="ellipse">
            <a:avLst/>
          </a:prstGeom>
          <a:solidFill>
            <a:srgbClr val="5F708C"/>
          </a:solidFill>
          <a:ln/>
        </p:spPr>
      </p:sp>
      <p:sp>
        <p:nvSpPr>
          <p:cNvPr id="16" name="Text 11"/>
          <p:cNvSpPr/>
          <p:nvPr/>
        </p:nvSpPr>
        <p:spPr>
          <a:xfrm>
            <a:off x="1115568" y="479145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  λ‖x‖²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mild quadratic that keeps the problem bounded.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544068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BEFE6"/>
          </a:solidFill>
          <a:ln/>
        </p:spPr>
      </p:sp>
      <p:sp>
        <p:nvSpPr>
          <p:cNvPr id="18" name="Text 13"/>
          <p:cNvSpPr/>
          <p:nvPr/>
        </p:nvSpPr>
        <p:spPr>
          <a:xfrm>
            <a:off x="960120" y="544068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 </a:t>
            </a:r>
            <a:pPr indent="0" marL="0">
              <a:buNone/>
            </a:pPr>
            <a:r>
              <a:rPr lang="en-US" sz="1200" i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well — the global basin — moves as θ varies.</a:t>
            </a:r>
            <a:endParaRPr lang="en-US" sz="1200" dirty="0"/>
          </a:p>
        </p:txBody>
      </p:sp>
      <p:pic>
        <p:nvPicPr>
          <p:cNvPr id="19" name="Image 3" descr="figs/landscape_pane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049698"/>
            <a:ext cx="6355080" cy="225568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32120" y="455371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seed falls into the nearest well; a good seed must learn which well to head toward for a given θ.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532120" y="5102352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E9F1F6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715000" y="51755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A
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D=2, P=2, K=6  ·  dense (shown)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732520" y="5102352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E9F1F6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8915400" y="51755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B
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D=8, P=6, K=12  ·  high-dim &amp; sparse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" name="Image 0" descr="figs/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to spend the budget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learned methods share the same trained model and surrogate — so the comparison isolates strategy, not training.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13969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5F708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1396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03120" y="1993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10312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uniform random seeds; solve all, keep best.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81344" y="187452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64224" y="213969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5F708C"/>
          </a:solidFill>
          <a:ln/>
        </p:spPr>
      </p:sp>
      <p:sp>
        <p:nvSpPr>
          <p:cNvPr id="14" name="Text 11"/>
          <p:cNvSpPr/>
          <p:nvPr/>
        </p:nvSpPr>
        <p:spPr>
          <a:xfrm>
            <a:off x="6364224" y="21396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35824" y="1993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35824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 nearest-θ training solutions as seeds.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292608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19125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1912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103120" y="3044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sample-pick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103120" y="3429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 latents, decode, solve all, keep best.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81344" y="292608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64224" y="319125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E9B8E"/>
          </a:solidFill>
          <a:ln/>
        </p:spPr>
      </p:sp>
      <p:sp>
        <p:nvSpPr>
          <p:cNvPr id="24" name="Text 21"/>
          <p:cNvSpPr/>
          <p:nvPr/>
        </p:nvSpPr>
        <p:spPr>
          <a:xfrm>
            <a:off x="6364224" y="31912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35824" y="3044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sample-screen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35824" y="3429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large pool, rank by g, solve the top-B.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39776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31520" y="424281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D9553F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4242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103120" y="4096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latent-opt (trust)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103120" y="4480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 g + trust penalty, decode, solve B.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181344" y="39776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364224" y="424281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D9553F"/>
          </a:solidFill>
          <a:ln/>
        </p:spPr>
      </p:sp>
      <p:sp>
        <p:nvSpPr>
          <p:cNvPr id="34" name="Text 31"/>
          <p:cNvSpPr/>
          <p:nvPr/>
        </p:nvSpPr>
        <p:spPr>
          <a:xfrm>
            <a:off x="6364224" y="4242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735824" y="4096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latent-opt (no trust)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735824" y="4480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τ=0 — exposes surrogate exploitation.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comparison:  </a:t>
            </a:r>
            <a:pPr algn="ctr" indent="0" marL="0">
              <a:buNone/>
            </a:pPr>
            <a:r>
              <a:rPr lang="en-US" sz="1400" b="1" i="1" dirty="0">
                <a:solidFill>
                  <a:srgbClr val="D9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latent-opt (trust)</a:t>
            </a:r>
            <a:pPr algn="ctr" indent="0" marL="0">
              <a:buNone/>
            </a:pPr>
            <a:r>
              <a:rPr lang="en-US" sz="140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algn="ctr" indent="0" marL="0">
              <a:buNone/>
            </a:pPr>
            <a:r>
              <a:rPr lang="en-US" sz="1400" b="1" i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sample-screen</a:t>
            </a:r>
            <a:pPr algn="ctr" indent="0" marL="0">
              <a:buNone/>
            </a:pPr>
            <a:r>
              <a:rPr lang="en-US" sz="1400" i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does steering beat using the very same cost signal as a filter?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" name="Image 0" descr="figs/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Low-dim regime: nobody earns their complexity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densely-covered 2-D space, plain nearest-neighbor retrieval already solves it — no learned method wins.</a:t>
            </a:r>
            <a:endParaRPr lang="en-US" sz="1450" dirty="0"/>
          </a:p>
        </p:txBody>
      </p:sp>
      <p:pic>
        <p:nvPicPr>
          <p:cNvPr id="7" name="Image 1" descr="figs/fig1_gap_vs_bu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1737360"/>
            <a:ext cx="6471920" cy="4480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2636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median optimality gap vs. matched budget B (top row: low-dim regime A).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498080" y="1874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635240" y="19842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7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7635240" y="27432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gap at B=1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646920" y="1874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784080" y="19842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6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9784080" y="27432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structured method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498080" y="342900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BEFE6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26680" y="3657600"/>
            <a:ext cx="502920" cy="502920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7" name="Image 2" descr="figs/ic_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380847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warning about toy benchmarks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772400" y="42976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dimensions, retrieval looks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unbeatable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every method — steering included — sits on the floor at the median.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772400" y="52578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warm-start study reporting only low-dim, in-distribution results is measuring the benchmark, not the method.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3" name="Image 0" descr="figs/ic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High-dim regime: the cost-to-go pays off — as a screen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sparse, high-dimensional space the methods separate, and one dominates everywhere.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98424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6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85800" y="27432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sample-screen median gap — every budget, in-dist &amp; shifted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18745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43400" y="198424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= 1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343400" y="27432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already hits zero at a single solver call, even under shift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1874520"/>
            <a:ext cx="3767328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01000" y="198424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6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 → 0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001000" y="274320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screen’s p90 tail at B=1 — far tighter than any rival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672084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371600"/>
                <a:gridCol w="1371600"/>
                <a:gridCol w="1371600"/>
              </a:tblGrid>
              <a:tr h="384048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B, shifted — median gap (p90)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F7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F7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B=1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F7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B=4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F7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B=16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sample-screen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(6.36)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(1.29)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(0.00)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sample-pick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(4.39)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23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latent-opt (trust)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23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23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23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F7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7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7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7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7498080" y="3520440"/>
            <a:ext cx="4133088" cy="2697480"/>
          </a:xfrm>
          <a:prstGeom prst="roundRect">
            <a:avLst>
              <a:gd name="adj" fmla="val 3390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26680" y="3749040"/>
            <a:ext cx="502920" cy="502920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19" name="Image 1" descr="fig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56" y="389991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dominates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772400" y="434340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 pool of samples by the learned cost-to-go and solving only the best few is,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wide margin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most reliable way to spend a scarce budget — reaching the global basin even from a single solver call under distribution shift.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D9553F"/>
          </a:solidFill>
          <a:ln/>
        </p:spPr>
      </p:sp>
      <p:pic>
        <p:nvPicPr>
          <p:cNvPr id="3" name="Image 0" descr="figs/ic_collap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Steering never wins — and gets worse with budget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capability a smooth latent adds turns out to be a liability when the budget is scarce.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532120" cy="4160520"/>
          </a:xfrm>
          <a:prstGeom prst="roundRect">
            <a:avLst>
              <a:gd name="adj" fmla="val 2198"/>
            </a:avLst>
          </a:prstGeom>
          <a:solidFill>
            <a:srgbClr val="FBEDE9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D9553F"/>
          </a:solidFill>
          <a:ln/>
        </p:spPr>
      </p:sp>
      <p:pic>
        <p:nvPicPr>
          <p:cNvPr id="9" name="Image 1" descr="figs/ic_collap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38" y="2364638"/>
            <a:ext cx="226771" cy="2267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B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mechanism: diversity collapse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14400" y="2926080"/>
            <a:ext cx="4892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pushes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 latents into the same low-g region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B seeds become near-duplicates, so multi-start buys almost nothing.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methods spread their seeds out and convert extra budget into extra basin coverage.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cannot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its median gap is flat or worsens as B grows.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14400" y="5074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B=16 under shift it is the second-worst method — beaten even by blind sample-pick.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5508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gap as budget grows  (latent-opt, in-dist)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55080" y="2423160"/>
            <a:ext cx="1673352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55080" y="2542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1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55080" y="2852928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0.573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8138160" y="2423160"/>
            <a:ext cx="1673352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138160" y="2542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4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38160" y="2852928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0.435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9921240" y="2423160"/>
            <a:ext cx="1673352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921240" y="2542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16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921240" y="2852928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0.000*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6355080" y="38862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“flat then late” — screening was already at 0.00 from B=1. Steering only arrives at large budget, and stays high under shift.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55080" y="457200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0" y="4828032"/>
            <a:ext cx="502920" cy="502920"/>
          </a:xfrm>
          <a:prstGeom prst="ellipse">
            <a:avLst/>
          </a:prstGeom>
          <a:solidFill>
            <a:srgbClr val="D9553F"/>
          </a:solidFill>
          <a:ln/>
        </p:spPr>
      </p:sp>
      <p:pic>
        <p:nvPicPr>
          <p:cNvPr id="26" name="Image 2" descr="figs/ic_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978908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223760" y="470916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helps over </a:t>
            </a:r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sampling — but is dominated by screening everywhere it matters, and forfeits the diversity scarce-budget multi-start depends on.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3" name="Image 0" descr="figs/ic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region is necessary but not sufficient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gradient descent exploits the surrogate off-manifold — promising low cost it cannot deliver.</a:t>
            </a:r>
            <a:endParaRPr lang="en-US" sz="1450" dirty="0"/>
          </a:p>
        </p:txBody>
      </p:sp>
      <p:pic>
        <p:nvPicPr>
          <p:cNvPr id="7" name="Image 1" descr="figs/fig2_surrogate_explo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11" y="1828800"/>
            <a:ext cx="5320937" cy="4297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217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predicted vs. actual solved cost, high-dim regime.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537960" y="19659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BEDE9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766560" y="2212848"/>
            <a:ext cx="475488" cy="475488"/>
          </a:xfrm>
          <a:prstGeom prst="ellipse">
            <a:avLst/>
          </a:prstGeom>
          <a:solidFill>
            <a:srgbClr val="D9553F"/>
          </a:solidFill>
          <a:ln/>
        </p:spPr>
      </p:sp>
      <p:pic>
        <p:nvPicPr>
          <p:cNvPr id="11" name="Image 2" descr="figs/ic_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206" y="2355494"/>
            <a:ext cx="190195" cy="1901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60920" y="2240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region (red)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858000" y="27889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surrogate confidently predicts very low cost, but the decoded seed solves to high cost — points far below the diagonal. It is the worst method at B=1 in the hard regime.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537960" y="397764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E9F1F6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766560" y="4224528"/>
            <a:ext cx="475488" cy="475488"/>
          </a:xfrm>
          <a:prstGeom prst="ellipse">
            <a:avLst/>
          </a:prstGeom>
          <a:solidFill>
            <a:srgbClr val="0A6F66"/>
          </a:solidFill>
          <a:ln/>
        </p:spPr>
      </p:sp>
      <p:pic>
        <p:nvPicPr>
          <p:cNvPr id="16" name="Image 3" descr="figs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206" y="4367174"/>
            <a:ext cx="190195" cy="1901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609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trust region (green)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858000" y="48006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 pulls latents back to where g is accurate — predictions stay honest and tightly clustered. But this only rescues steering from catastrophe; it reaches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B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parity-to-worse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against screening, never better.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" name="Image 0" descr="figs/ic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the latent, or the ranker? Diffusion vs. VAE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generator, move the ranker into solution space — and see what actually carries the weight.</a:t>
            </a:r>
            <a:endParaRPr lang="en-US" sz="1450" dirty="0"/>
          </a:p>
        </p:txBody>
      </p:sp>
      <p:pic>
        <p:nvPicPr>
          <p:cNvPr id="7" name="Image 1" descr="figs/fig3_diffusion_vs_v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1783080"/>
            <a:ext cx="713232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11292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median gap vs. budget, high-dim regime: two screening curves hug the floor; two “pick” curves track well above.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48920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11" name="Image 2" descr="figs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50292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wins regardless of generator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04672" y="56509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vae-screen and diff-screen are statistically indistinguishable — both at a median gap of zero.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261104" y="48920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89704" y="5074920"/>
            <a:ext cx="457200" cy="457200"/>
          </a:xfrm>
          <a:prstGeom prst="ellipse">
            <a:avLst/>
          </a:prstGeom>
          <a:solidFill>
            <a:srgbClr val="D9553F"/>
          </a:solidFill>
          <a:ln/>
        </p:spPr>
      </p:sp>
      <p:pic>
        <p:nvPicPr>
          <p:cNvPr id="16" name="Image 3" descr="figs/ic_tim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521208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84064" y="50292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generator helps alone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517136" y="56509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vae-pick and diff-pick are both mediocre; the diffusion model’s celebrated diversity buys nothing unranked.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973568" y="48920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202168" y="5074920"/>
            <a:ext cx="457200" cy="457200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21" name="Image 4" descr="figs/ic_id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521208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96528" y="50292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is portable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8229600" y="56509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solution-space ranker screens any sampler equally well — so the useful object is the cost-to-go, not the latent.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ON RQ5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Steering is the wrong instrument.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E0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cost-to-go is the asset.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51760"/>
            <a:ext cx="566928" cy="566928"/>
          </a:xfrm>
          <a:prstGeom prst="ellipse">
            <a:avLst/>
          </a:prstGeom>
          <a:solidFill>
            <a:srgbClr val="D9553F"/>
          </a:solidFill>
          <a:ln/>
        </p:spPr>
      </p:sp>
      <p:pic>
        <p:nvPicPr>
          <p:cNvPr id="6" name="Image 0" descr="figs/ic_t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821838"/>
            <a:ext cx="226771" cy="2267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649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steering loses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wins where the choice matters, and degrades with budget by collapsing seed diversity.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52544" y="23774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2651760"/>
            <a:ext cx="566928" cy="56692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11" name="Image 1" descr="fig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942" y="2821838"/>
            <a:ext cx="226771" cy="2267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33649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wins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26864" y="4023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cost-to-go, used as a ranker over diverse samples, reaches the global basin at every budget.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65008" y="23774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2651760"/>
            <a:ext cx="566928" cy="566928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6" name="Image 2" descr="figs/ic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2821838"/>
            <a:ext cx="226771" cy="2267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33649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is generator-agnostic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39328" y="4023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solution-space ranker sharpens a diffusion sampler and a VAE equally — neither works without it.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recommendation:  </a:t>
            </a:r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 good cost-to-go predictor, spend the query budget on the samples it ranks best, and treat latent steering as promising only if diversity is explicitly restored.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3" name="Image 0" descr="figs/ic_i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WANT TO CONTRIBUTE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want to research next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7320" y="12435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result opens five concrete directions. These are the ones I’d most like to pursue.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623560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048256"/>
            <a:ext cx="566928" cy="566928"/>
          </a:xfrm>
          <a:prstGeom prst="ellipse">
            <a:avLst/>
          </a:prstGeom>
          <a:solidFill>
            <a:srgbClr val="0E9B8E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19751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Diversified steering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24323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repulsion / quality-diversity term so steering targets several distinct low-cost modes. The one route by which latent geometry might still earn its place.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291840"/>
            <a:ext cx="5623560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" y="3511296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63040" y="34381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dimension + real constraints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63040" y="389534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 higher and move to a genuine trajectory-optimization / MPC family to test whether screening’s reliability and retrieval’s collapse persist beyond synthetic wells.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754880"/>
            <a:ext cx="5623560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9808" y="4974336"/>
            <a:ext cx="566928" cy="566928"/>
          </a:xfrm>
          <a:prstGeom prst="ellipse">
            <a:avLst/>
          </a:prstGeom>
          <a:solidFill>
            <a:srgbClr val="D9553F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4974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63040" y="49011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 the ranker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63040" y="535838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how screening degrades as the cost-to-go’s ranking accuracy drops — the assumption the entire result rests on.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55080" y="18288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56248" y="2048256"/>
            <a:ext cx="566928" cy="566928"/>
          </a:xfrm>
          <a:prstGeom prst="ellipse">
            <a:avLst/>
          </a:prstGeom>
          <a:solidFill>
            <a:srgbClr val="E0982F"/>
          </a:solidFill>
          <a:ln/>
        </p:spPr>
      </p:sp>
      <p:sp>
        <p:nvSpPr>
          <p:cNvPr id="24" name="Text 21"/>
          <p:cNvSpPr/>
          <p:nvPr/>
        </p:nvSpPr>
        <p:spPr>
          <a:xfrm>
            <a:off x="6556248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269480" y="19751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theory of diversity collapse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269480" y="243230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the effective number of distinct basins reached as a function of steering strength — turning the empirical mechanism into a principle.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355080" y="329184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556248" y="3511296"/>
            <a:ext cx="566928" cy="566928"/>
          </a:xfrm>
          <a:prstGeom prst="ellipse">
            <a:avLst/>
          </a:prstGeom>
          <a:solidFill>
            <a:srgbClr val="0A6F66"/>
          </a:solidFill>
          <a:ln/>
        </p:spPr>
      </p:sp>
      <p:sp>
        <p:nvSpPr>
          <p:cNvPr id="29" name="Text 26"/>
          <p:cNvSpPr/>
          <p:nvPr/>
        </p:nvSpPr>
        <p:spPr>
          <a:xfrm>
            <a:off x="6556248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269480" y="343814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sampler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269480" y="38953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Re-examine the pick-vs-pick comparison with a larger, better-tuned diffusion / flow-matching model now that screen-vs-pick is settled.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355080" y="475488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583680" y="5010912"/>
            <a:ext cx="502920" cy="502920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34" name="Image 1" descr="fig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5161788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223760" y="4956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starting point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7223760" y="53218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1 and 3 are self-contained and buildable on the existing code — I’d propose beginning there, then scaling toward a real MPC family.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 or Screen?</dc:title>
  <dc:subject>PptxGenJS Presentation</dc:subject>
  <dc:creator>Research Pitch</dc:creator>
  <cp:lastModifiedBy>Research Pitch</cp:lastModifiedBy>
  <cp:revision>1</cp:revision>
  <dcterms:created xsi:type="dcterms:W3CDTF">2026-07-07T05:21:46Z</dcterms:created>
  <dcterms:modified xsi:type="dcterms:W3CDTF">2026-07-07T05:21:46Z</dcterms:modified>
</cp:coreProperties>
</file>